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71a17059744727" /><Relationship Type="http://schemas.openxmlformats.org/officeDocument/2006/relationships/extended-properties" Target="/docProps/app.xml" Id="R03a69d170c7949e0" /><Relationship Type="http://schemas.openxmlformats.org/officeDocument/2006/relationships/officeDocument" Target="/ppt/presentation.xml" Id="R5f2b222dd27f40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d52bbe6e04ac2"/>
  </p:sldMasterIdLst>
  <p:notesMasterIdLst>
    <p:notesMasterId xmlns:r="http://schemas.openxmlformats.org/officeDocument/2006/relationships" r:id="Rfdc0b12e15924aa9"/>
  </p:notesMasterIdLst>
  <p:sldIdLst>
    <p:sldId xmlns:r="http://schemas.openxmlformats.org/officeDocument/2006/relationships" id="256" r:id="Rd462bc91c29e4524"/>
    <p:sldId xmlns:r="http://schemas.openxmlformats.org/officeDocument/2006/relationships" id="257" r:id="R71d05ddce002415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4700cf1d284153" /><Relationship Type="http://schemas.openxmlformats.org/officeDocument/2006/relationships/slideMaster" Target="/ppt/slideMasters/slideMaster1.xml" Id="Rac8d52bbe6e04ac2" /><Relationship Type="http://schemas.openxmlformats.org/officeDocument/2006/relationships/notesMaster" Target="/ppt/notesMasters/notesMaster1.xml" Id="Rfdc0b12e15924aa9" /><Relationship Type="http://schemas.openxmlformats.org/officeDocument/2006/relationships/presProps" Target="/ppt/presProps.xml" Id="Rce930ae28f1a49d7" /><Relationship Type="http://schemas.openxmlformats.org/officeDocument/2006/relationships/tableStyles" Target="/ppt/tableStyles.xml" Id="R23de6751de134009" /><Relationship Type="http://schemas.openxmlformats.org/officeDocument/2006/relationships/slide" Target="/ppt/slides/slide1.xml" Id="Rd462bc91c29e4524" /><Relationship Type="http://schemas.openxmlformats.org/officeDocument/2006/relationships/slide" Target="/ppt/slides/slide2.xml" Id="R71d05ddce00241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3964c93b545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b06f5bbc1a4446" /><Relationship Type="http://schemas.openxmlformats.org/officeDocument/2006/relationships/notesMaster" Target="/ppt/notesMasters/notesMaster1.xml" Id="Rc6ca920ab5a34a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1cfd2767ed4bf0" /><Relationship Type="http://schemas.openxmlformats.org/officeDocument/2006/relationships/notesMaster" Target="/ppt/notesMasters/notesMaster1.xml" Id="R7deb845f8c2244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本页讲稿</a:t>
            </a:r>
          </a:p>
          <a:p xmlns:a="http://schemas.openxmlformats.org/drawingml/2006/main">
            <a:r>
              <a:t>这条链路把“找器件”和“判断丝印是否符合标准”拆开。前者先用传统图像处理，后者使用正品图、待检裁片和检验说明进行视觉语言模型比对。定位在降采样图上计算，把坐标映回原图后再做旋转采样；原图始终保留。图中是项目生成样片，并非工厂来料照片。右侧“SV385 / SV358”是已有 EXP-006 模型原文与人工真值共同支持的差异示例，不是本次重新进行推理。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为什么目前使用 OpenCV</a:t>
            </a:r>
          </a:p>
          <a:p xmlns:a="http://schemas.openxmlformats.org/drawingml/2006/main">
            <a:r>
              <a:t>绿色台面使前景与背景有较明确的颜色差异。当前实现用 HSV 绿色掩码、灰度门、闭运算、轮廓面积/长宽比/填充率筛选，再用 minAreaRect 估计小角度。这里只做几何裁片，不是学习得到的通用语义分割。当前配置最多处理6件，超出或质量异常会标记问题；本页不承诺任意背景、任意器件都能可靠定位。</a:t>
            </a:r>
          </a:p>
          <a:p xmlns:a="http://schemas.openxmlformats.org/drawingml/2006/main">
            <a:r>
              <a:t>历史 CPU 探针：single 245ms / 140.00MiB；pair 311ms / 138.02MiB；dim-three 270ms / 133.88MiB。口径含该工作器的定位、裁片和派生图生成，不含 Node、VLM 或系统总内存。图示在2026-10-27由当前分离器重新生成，用于解释流程；没有用这次单次耗时替换历史性能数据。</a:t>
            </a:r>
          </a:p>
          <a:p xmlns:a="http://schemas.openxmlformats.org/drawingml/2006/main">
            <a:r>
              <a:t>旋转插值改变采样像素，因此不称“完全无损”；保留引脚和边距，不用生成式超分辨率补造笔画。矩形角度本身有180度歧义，不保证文字向上，也不等同于透视矫正。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为什么考虑 YOLO，为什么暂未采用</a:t>
            </a:r>
          </a:p>
          <a:p xmlns:a="http://schemas.openxmlformats.org/drawingml/2006/main">
            <a:r>
              <a:t>YOLO OBB输出带角度的目标框，可学习封装外形与局部纹理，工程上有望减少对台面颜色阈值的依赖，但需要真实标注和跨背景验证；不声称已经提升了本项目召回率。优先做旋转框检测，只有精细mask明确改善下游识别时再增加实例分割，避免损伤细引脚。YOLO11n-OBB官方配置为2,695,747参数，约2.7M；这不是2.6M的普通检测版本，也不等于峰值内存。仅FP16参数理论约5.4MB，运行时/激活另计，本页没有承诺设备时延或显存。</a:t>
            </a:r>
          </a:p>
          <a:p xmlns:a="http://schemas.openxmlformats.org/drawingml/2006/main">
            <a:r>
              <a:t>通用COCO类别没有集成电路；OBB常用DOTA权重针对航拍等类别。两者都不能直接等同于现成的IC检测器。下一步先收集真实平板照片及旋转框标注，评估漏件、误检、框是否保全文字和引脚，再决定是否替换。采用Ultralytics实现还需检查AGPL-3.0/Enterprise许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来源（核验于2026-10-27）</a:t>
            </a:r>
          </a:p>
          <a:p xmlns:a="http://schemas.openxmlformats.org/drawingml/2006/main">
            <a:r>
              <a:t>[E1] 项目 EXP-006，2026-10-18；3张1536×1024生成图，共6个不同裁片；6件输出与人工观察相符，但不作为生产准确率。</a:t>
            </a:r>
          </a:p>
          <a:p xmlns:a="http://schemas.openxmlformats.org/drawingml/2006/main">
            <a:r>
              <a:t>https://github.com/fengjikui/smartverifier/blob/a0def3a/research/real-vision/README.md</a:t>
            </a:r>
          </a:p>
          <a:p xmlns:a="http://schemas.openxmlformats.org/drawingml/2006/main">
            <a:r>
              <a:t>https://github.com/fengjikui/smartverifier/blob/a0def3a/research/real-vision/results.json</a:t>
            </a:r>
          </a:p>
          <a:p xmlns:a="http://schemas.openxmlformats.org/drawingml/2006/main">
            <a:r>
              <a:t>图示原图：fixtures/inspection/green-mat-v1/pair.png；标准：reference-crop.png；生成属性与真值见同目录manifest.json。</a:t>
            </a:r>
          </a:p>
          <a:p xmlns:a="http://schemas.openxmlformats.org/drawingml/2006/main">
            <a:r>
              <a:t>当前算法：server/vision/local_worker.py，green-contours-v1。</a:t>
            </a:r>
          </a:p>
          <a:p xmlns:a="http://schemas.openxmlformats.org/drawingml/2006/main">
            <a:r>
              <a:t>[1] OpenCV, Contour Features（轮廓与minAreaRect）</a:t>
            </a:r>
          </a:p>
          <a:p xmlns:a="http://schemas.openxmlformats.org/drawingml/2006/main">
            <a:r>
              <a:t>https://docs.opencv.org/4.13.0/dd/d49/tutorial_py_contour_features.html</a:t>
            </a:r>
          </a:p>
          <a:p xmlns:a="http://schemas.openxmlformats.org/drawingml/2006/main">
            <a:r>
              <a:t>[2] Ultralytics, Oriented Bounding Box Detection（模型输出语义）</a:t>
            </a:r>
          </a:p>
          <a:p xmlns:a="http://schemas.openxmlformats.org/drawingml/2006/main">
            <a:r>
              <a:t>https://docs.ultralytics.com/tasks/obb/</a:t>
            </a:r>
          </a:p>
          <a:p xmlns:a="http://schemas.openxmlformats.org/drawingml/2006/main">
            <a:r>
              <a:t>YOLO11-OBB官方配置（n型2,695,747参数）</a:t>
            </a:r>
          </a:p>
          <a:p xmlns:a="http://schemas.openxmlformats.org/drawingml/2006/main">
            <a:r>
              <a:t>https://github.com/ultralytics/ultralytics/blob/main/ultralytics/cfg/models/11/yolo11-obb.yaml</a:t>
            </a:r>
          </a:p>
          <a:p xmlns:a="http://schemas.openxmlformats.org/drawingml/2006/main">
            <a:r>
              <a:t>COCO类别配置</a:t>
            </a:r>
          </a:p>
          <a:p xmlns:a="http://schemas.openxmlformats.org/drawingml/2006/main">
            <a:r>
              <a:t>https://github.com/ultralytics/ultralytics/blob/main/ultralytics/cfg/datasets/coco.yaml</a:t>
            </a:r>
          </a:p>
          <a:p xmlns:a="http://schemas.openxmlformats.org/drawingml/2006/main">
            <a:r>
              <a:t>许可</a:t>
            </a:r>
          </a:p>
          <a:p xmlns:a="http://schemas.openxmlformats.org/drawingml/2006/main">
            <a:r>
              <a:t>https://www.ultralytics.com/license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本页讲稿</a:t>
            </a:r>
          </a:p>
          <a:p xmlns:a="http://schemas.openxmlformats.org/drawingml/2006/main">
            <a:r>
              <a:t>本页的数值来自2026-10-17至18日本机历史受控实验；2026-10-27只核对记录并制作汇报，没有重跑模型，不把今天的系统版本当作当时的实验版本。基线模型API标识hr-qwen，本地目录标注qwen3.8-27b-mlx，架构配置qwen3_5，MLX 4bit；这不是对官方模型命名或版本沿革的额外认定。设备Apple M2 Ultra / 64GiB，串行请求，temperature=0，请求关闭thinking，输出和输入哈希留存。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[E2] 白板对照，EXP-007</a:t>
            </a:r>
          </a:p>
          <a:p xmlns:a="http://schemas.openxmlformats.org/drawingml/2006/main">
            <a:r>
              <a:t>同一组自动裁片，逐件串行与一次白板使用同一套规则及输出字段，4件含一件错序和暗光裁片，6件含一件错序及三件暗光裁片。图表使用首次输入该白板的首轮，不使用重复输入的缓存成绩：4件32.158s→23.211s，降27.8%；6件44.424s→32.152s，降27.6%。白板合成每组另测3次，中位56.29/77.44ms；不计入图表模型调用墙钟，加回不改变主要判断。墙钟包含SDK连接、输入准备上传、预填充和生成，不包含共用定位/裁剪及轮间休息。所有请求串行；没有对比并行吞吐。</a:t>
            </a:r>
          </a:p>
          <a:p xmlns:a="http://schemas.openxmlformats.org/drawingml/2006/main">
            <a:r>
              <a:t>先预热一次；6件逐件含预热用的C01，且C01与标准来自同一原图，首轮并非全冷。4件子集不含C01；各条件每轮只有一次，不报告统计显著性。随后重复与换位均读对，仍只有6个不同生成裁片，不能把重复观察累计成独立样本或准确率100%。当前主流程逐件识别，批量未上线。</a:t>
            </a:r>
          </a:p>
          <a:p xmlns:a="http://schemas.openxmlformats.org/drawingml/2006/main">
            <a:r>
              <a:t>https://github.com/fengjikui/smartverifier/blob/a0def3a/research/whiteboard-batching/README.md</a:t>
            </a:r>
          </a:p>
          <a:p xmlns:a="http://schemas.openxmlformats.org/drawingml/2006/main">
            <a:r>
              <a:t>https://github.com/fengjikui/smartverifier/blob/a0def3a/research/whiteboard-batching/results.json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[E3] 小模型和OCR，EXP-002/003</a:t>
            </a:r>
          </a:p>
          <a:p xmlns:a="http://schemas.openxmlformats.org/drawingml/2006/main">
            <a:r>
              <a:t>同样4张430×430裁片、相同提示和图片字节，27B / Qwen3.5-4B均为本地MLX 4bit，各使用原生模板关闭thinking。逐件抄录27B合计12.9s，4B5.7s；正品+4件白板文字比对27B19.5s，4B5.4s，两者该次全文与判定均正确。每条件仅一次，存在预热和输出长度影响，不承诺稳定倍速。一例4B独立多图把要求的对象包装成数组，文字对但对象结构不合约定。</a:t>
            </a:r>
          </a:p>
          <a:p xmlns:a="http://schemas.openxmlformats.org/drawingml/2006/main">
            <a:r>
              <a:t>PP-OCRv6 small检测+识别，CPU两线程、batch1，同4张裁片读对；推理0.8844s，初始化3.6816s另计。OCR不执行完整VLM的外观和自然语言检验，不能把这三列当作同一种完整任务的速度排名。4B和OCR表格只是模块探索。</a:t>
            </a:r>
          </a:p>
          <a:p xmlns:a="http://schemas.openxmlformats.org/drawingml/2006/main">
            <a:r>
              <a:t>https://github.com/fengjikui/smartverifier/blob/a0def3a/research/model-selection/results-2026-10-17.json</a:t>
            </a:r>
          </a:p>
          <a:p xmlns:a="http://schemas.openxmlformats.org/drawingml/2006/main">
            <a:r>
              <a:t>https://huggingface.co/Qwen/Qwen3.5-4B</a:t>
            </a:r>
          </a:p>
          <a:p xmlns:a="http://schemas.openxmlformats.org/drawingml/2006/main">
            <a:r>
              <a:t>https://github.com/PaddlePaddle/PaddleOCR/blob/main/docs/version3.x/algorithm/PP-OCRv6/PP-OCRv6.en.md</a:t>
            </a:r>
          </a:p>
          <a:p xmlns:a="http://schemas.openxmlformats.org/drawingml/2006/main">
            <a:r>
              <a:t>2B、InternVL3.5、Gemma、SAM等此前只做资料筛选，未在本页写成已实测结果。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[E4] 输入尺寸与布局，EXP-001</a:t>
            </a:r>
          </a:p>
          <a:p xmlns:a="http://schemas.openxmlformats.org/drawingml/2006/main">
            <a:r>
              <a:t>同4块源裁片重复排16件；方形1920×1920全文16/16；长条7680×480触发本机2048长边限制，经约2048×128后全文12/16，四个SV385均被读成SV358，但仍返回16个编号。它是抄录实验：若据这些抄录直接判定，会漏掉4处差异；不是已经观测到4次生产误放行。本实验同时改变布局和有效缩放，不能把误差都归因于插值算法。</a:t>
            </a:r>
          </a:p>
          <a:p xmlns:a="http://schemas.openxmlformats.org/drawingml/2006/main">
            <a:r>
              <a:t>本机SDK与REST的3072方形探针展开视觉token均对应2048方形，而非原3072；这是本机配置的实测，不是所有千问部署都固定2048。原照片与模型最终有效细节不同；按请求前尺寸/视觉token和最小字尺寸约束批量，不使用生成式“修复”。</a:t>
            </a:r>
          </a:p>
          <a:p xmlns:a="http://schemas.openxmlformats.org/drawingml/2006/main">
            <a:r>
              <a:t>https://github.com/fengjikui/smartverifier/blob/a0def3a/docs/research/模型图片预处理与批量识别调研-2026-10-17.md</a:t>
            </a:r>
          </a:p>
          <a:p xmlns:a="http://schemas.openxmlformats.org/drawingml/2006/main">
            <a:r>
              <a:t>https://github.com/fengjikui/smartverifier/blob/a0def3a/research/vision-batching/results-2026-10-17.json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[E5] 固定前缀+Schema，EXP-008</a:t>
            </a:r>
          </a:p>
          <a:p xmlns:a="http://schemas.openxmlformats.org/drawingml/2006/main">
            <a:r>
              <a:t>A旧顺序+提示词，B旧顺序+Schema，C新顺序+提示词，D新顺序+Schema。预热每条件1次排除，4张变化白板各跑四条件，执行首条件轮换，正式16次。表述25.29s是D的中位25.2935，22.08s是A中位22.0815；两者同时改变输入编排和约束，不能归因于单一变量。两组换图均0/4缓存命中，文字/判定均16/16来自4块重复源裁片，不能证明等效准确率。A原样重复可命中，而D原样重复仍0，说明不能简单归因“用户未开缓存”；最终根因仍待排查。没有修改引擎验证唯一根因。</a:t>
            </a:r>
          </a:p>
          <a:p xmlns:a="http://schemas.openxmlformats.org/drawingml/2006/main">
            <a:r>
              <a:t>首token约11s、解码约31 token/s，不能将首token等待都称为思考；本轮thinking关闭。Schema以真实response_format传递，输出后仍校验编号、字段和结束状态。它不保证OCR/语义正确，现场说明冲突数组仍曾漏填。固定规则与标准前置为后续服务优化留边界，不把它宣传为本机提速。</a:t>
            </a:r>
          </a:p>
          <a:p xmlns:a="http://schemas.openxmlformats.org/drawingml/2006/main">
            <a:r>
              <a:t>https://github.com/fengjikui/smartverifier/blob/a0def3a/research/prefix-cache/README.md</a:t>
            </a:r>
          </a:p>
          <a:p xmlns:a="http://schemas.openxmlformats.org/drawingml/2006/main">
            <a:r>
              <a:t>https://github.com/fengjikui/smartverifier/blob/a0def3a/research/prefix-cache/results.json</a:t>
            </a:r>
          </a:p>
          <a:p xmlns:a="http://schemas.openxmlformats.org/drawingml/2006/main">
            <a:r>
              <a:t>[3] vLLM官方Structured Outputs：response_format/json_schema示例仅为部署方向依据，不声称本机实验由vLLM执行。</a:t>
            </a:r>
          </a:p>
          <a:p xmlns:a="http://schemas.openxmlformats.org/drawingml/2006/main">
            <a:r>
              <a:t>https://docs.vllm.ai/en/latest/features/structured_outputs/</a:t>
            </a:r>
          </a:p>
          <a:p xmlns:a="http://schemas.openxmlformats.org/drawingml/2006/main">
            <a:r>
              <a:t>[4] Bai et al., Qwen3-VL Technical Report, arXiv:2511.21631, 2025，§2及多图/细粒度评测。支持动态分辨率、可变视觉token及多图能力的技术背景，不将其公开榜单当本项目准确率，也不将Qwen3-VL与本机qwen3_5架构或Qwen3.5-4B混为同一型号。</a:t>
            </a:r>
          </a:p>
          <a:p xmlns:a="http://schemas.openxmlformats.org/drawingml/2006/main">
            <a:r>
              <a:t>https://arxiv.org/abs/2511.21631</a:t>
            </a:r>
          </a:p>
          <a:p xmlns:a="http://schemas.openxmlformats.org/drawingml/2006/main">
            <a:r>
              <a:t>另参考Wang et al., Qwen2-VL: Enhancing Vision-Language Model's Perception of the World at Any Resolution, arXiv:2409.12191, 2024，动态分辨率机制。</a:t>
            </a:r>
          </a:p>
          <a:p xmlns:a="http://schemas.openxmlformats.org/drawingml/2006/main">
            <a:r>
              <a:t>https://arxiv.org/abs/2409.12191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后续验收</a:t>
            </a:r>
          </a:p>
          <a:p xmlns:a="http://schemas.openxmlformats.org/drawingml/2006/main">
            <a:r>
              <a:t>建立真实平板照片及逐件真值，按物理元件和拍摄批次分组，覆盖长型号、S/5/O/0/I/1、反光、粘连、不同封装和允许变动字段。主要指标：不合格误判为合格、漏件、误报、需重拍、字符差异和P95时延；模型自报置信度不是已校准概率。本机结果不能直接用于购买NVIDIA服务器或承诺百人并发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f033f852444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1f18769d546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09401b3c041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9b64945e549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f8032a3cc40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5e784f78f4c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BD5EFA-7BCA-4C61-9BC2-1BD270CA5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11D604-A56B-4DD2-90B1-F62B6A3D9E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C0735B-6167-473A-ADBE-1B74EBCC5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7D378B-53DC-4316-B9FB-1127748E1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03B1AE-50E2-441D-AC3D-5FEA77928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71C985-BDE7-4DA7-8970-54E8F9E808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464C9E-7395-4A0E-A47A-C47C9FDA93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0BFE6C-1C6F-4D15-841D-A794AA6254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122ACC-D3A2-46D1-83AF-88ADD5B2EE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5E2783-A5F7-4289-B7B8-7947D58BBC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cad7432e7444d9" /><Relationship Type="http://schemas.openxmlformats.org/officeDocument/2006/relationships/slideLayout" Target="/ppt/slideLayouts/slideLayout1.xml" Id="Rc515fd3c1b4d42e8" /><Relationship Type="http://schemas.openxmlformats.org/officeDocument/2006/relationships/slideLayout" Target="/ppt/slideLayouts/slideLayout2.xml" Id="Rb467d43977b54eb8" /><Relationship Type="http://schemas.openxmlformats.org/officeDocument/2006/relationships/slideLayout" Target="/ppt/slideLayouts/slideLayout3.xml" Id="Rb8afe322fc3b4b74" /><Relationship Type="http://schemas.openxmlformats.org/officeDocument/2006/relationships/slideLayout" Target="/ppt/slideLayouts/slideLayout4.xml" Id="R43da3e7348e24967" /><Relationship Type="http://schemas.openxmlformats.org/officeDocument/2006/relationships/slideLayout" Target="/ppt/slideLayouts/slideLayout5.xml" Id="R7150a288a1704c59" /><Relationship Type="http://schemas.openxmlformats.org/officeDocument/2006/relationships/slideLayout" Target="/ppt/slideLayouts/slideLayout6.xml" Id="R0c493552504242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5fd3c1b4d42e8"/>
    <p:sldLayoutId xmlns:r="http://schemas.openxmlformats.org/officeDocument/2006/relationships" id="2147483650" r:id="Rb467d43977b54eb8"/>
    <p:sldLayoutId xmlns:r="http://schemas.openxmlformats.org/officeDocument/2006/relationships" id="2147483651" r:id="Rb8afe322fc3b4b74"/>
    <p:sldLayoutId xmlns:r="http://schemas.openxmlformats.org/officeDocument/2006/relationships" id="2147483652" r:id="R43da3e7348e24967"/>
    <p:sldLayoutId xmlns:r="http://schemas.openxmlformats.org/officeDocument/2006/relationships" id="2147483653" r:id="R7150a288a1704c59"/>
    <p:sldLayoutId xmlns:r="http://schemas.openxmlformats.org/officeDocument/2006/relationships" id="2147483654" r:id="R0c493552504242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00acbaa2af4bf2" /><Relationship Type="http://schemas.openxmlformats.org/officeDocument/2006/relationships/image" Target="/ppt/media/image.png" Id="R1d60d81620af46e8" /><Relationship Type="http://schemas.openxmlformats.org/officeDocument/2006/relationships/image" Target="/ppt/media/image2.png" Id="Rf0b3362d10de4699" /><Relationship Type="http://schemas.openxmlformats.org/officeDocument/2006/relationships/image" Target="/ppt/media/image3.png" Id="R0f27276cb4ed4317" /><Relationship Type="http://schemas.openxmlformats.org/officeDocument/2006/relationships/hyperlink" Target="https://github.com/fengjikui/smartverifier/blob/a0def3a/research/real-vision/README.md" TargetMode="External" Id="Rfb12a88992b741e2" /><Relationship Type="http://schemas.openxmlformats.org/officeDocument/2006/relationships/hyperlink" Target="https://docs.opencv.org/4.13.0/dd/d49/tutorial_py_contour_features.html" TargetMode="External" Id="R1e352e8f5cca40fd" /><Relationship Type="http://schemas.openxmlformats.org/officeDocument/2006/relationships/hyperlink" Target="https://github.com/ultralytics/ultralytics/blob/main/ultralytics/cfg/models/11/yolo11-obb.yaml" TargetMode="External" Id="R69489188941b46b0" /><Relationship Type="http://schemas.openxmlformats.org/officeDocument/2006/relationships/notesSlide" Target="/ppt/notesSlides/notesSlide1.xml" Id="Rb5f2fff978684d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a6522a8964ee5" /><Relationship Type="http://schemas.openxmlformats.org/officeDocument/2006/relationships/chart" Target="/ppt/slides/charts/chart1.xml" Id="R94bc97bce8e24b1e" /><Relationship Type="http://schemas.openxmlformats.org/officeDocument/2006/relationships/hyperlink" Target="https://github.com/fengjikui/smartverifier/blob/a0def3a/research/whiteboard-batching/README.md" TargetMode="External" Id="Ra9d68c6b2e624995" /><Relationship Type="http://schemas.openxmlformats.org/officeDocument/2006/relationships/hyperlink" Target="https://github.com/fengjikui/smartverifier/blob/a0def3a/docs/research/&#27169;&#22411;&#36873;&#22411;&#19982;&#22270;&#20687;&#39044;&#22788;&#29702;-&#21021;&#27493;&#35843;&#30740;&#21450;&#27719;&#25253;&#32032;&#26448;-2026-10-17.md" TargetMode="External" Id="R4f0d8f244b404628" /><Relationship Type="http://schemas.openxmlformats.org/officeDocument/2006/relationships/hyperlink" Target="https://github.com/fengjikui/smartverifier/blob/a0def3a/docs/research/&#27169;&#22411;&#22270;&#29255;&#39044;&#22788;&#29702;&#19982;&#25209;&#37327;&#35782;&#21035;&#35843;&#30740;-2026-10-17.md" TargetMode="External" Id="R6589a8b27f664e82" /><Relationship Type="http://schemas.openxmlformats.org/officeDocument/2006/relationships/hyperlink" Target="https://github.com/fengjikui/smartverifier/blob/a0def3a/research/prefix-cache/README.md" TargetMode="External" Id="R4f23d478a467434a" /><Relationship Type="http://schemas.openxmlformats.org/officeDocument/2006/relationships/hyperlink" Target="https://docs.vllm.ai/en/latest/features/structured_outputs/" TargetMode="External" Id="R7b7f92b2bd11444f" /><Relationship Type="http://schemas.openxmlformats.org/officeDocument/2006/relationships/hyperlink" Target="https://arxiv.org/abs/2511.21631" TargetMode="External" Id="Rde531a3ae82140d5" /><Relationship Type="http://schemas.openxmlformats.org/officeDocument/2006/relationships/notesSlide" Target="/ppt/notesSlides/notesSlide2.xml" Id="R7147804fc25148a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逐件累计（秒）</c:v>
          </c:tx>
          <c:spPr>
            <a:solidFill xmlns:a="http://schemas.openxmlformats.org/drawingml/2006/main">
              <a:srgbClr val="87919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6 件</c:v>
                </c:pt>
                <c:pt idx="1">
                  <c:v>4 件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44.424</c:v>
                </c:pt>
                <c:pt idx="1">
                  <c:v>32.158</c:v>
                </c:pt>
              </c:numCache>
            </c:numRef>
          </c:val>
        </c:ser>
        <c:ser>
          <c:idx val="1"/>
          <c:order val="1"/>
          <c:tx>
            <c:v>一次白板（秒）</c:v>
          </c:tx>
          <c:spPr>
            <a:solidFill xmlns:a="http://schemas.openxmlformats.org/drawingml/2006/main">
              <a:srgbClr val="B62230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6 件</c:v>
                </c:pt>
                <c:pt idx="1">
                  <c:v>4 件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32.152</c:v>
                </c:pt>
                <c:pt idx="1">
                  <c:v>23.211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02329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59616A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元件定位与丝印比对">
            <a:extLst xmlns:a="http://schemas.openxmlformats.org/drawingml/2006/main">
              <a:ext uri="{FF2B5EF4-FFF2-40B4-BE49-F238E27FC236}">
                <a16:creationId xmlns:a16="http://schemas.microsoft.com/office/drawing/2014/main" id="{7D2C0F00-8774-414C-93B8-EF8EA060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257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元件定位与丝印比对</a:t>
            </a:r>
          </a:p>
        </p:txBody>
      </p:sp>
      <p:sp>
        <p:nvSpPr>
          <p:cNvPr id="2" name="现用 OpenCV 前处理 + 千问 27B；定位">
            <a:extLst xmlns:a="http://schemas.openxmlformats.org/drawingml/2006/main">
              <a:ext uri="{FF2B5EF4-FFF2-40B4-BE49-F238E27FC236}">
                <a16:creationId xmlns:a16="http://schemas.microsoft.com/office/drawing/2014/main" id="{99FA62C2-9B8C-4C33-A689-B7D114DC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381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现用 OpenCV 前处理 + 千问 27B；定位器与识别模型分别选型</a:t>
            </a:r>
          </a:p>
        </p:txBody>
      </p:sp>
      <p:sp>
        <p:nvSpPr>
          <p:cNvPr id="3" name="鉴微 / 技术探索">
            <a:extLst xmlns:a="http://schemas.openxmlformats.org/drawingml/2006/main">
              <a:ext uri="{FF2B5EF4-FFF2-40B4-BE49-F238E27FC236}">
                <a16:creationId xmlns:a16="http://schemas.microsoft.com/office/drawing/2014/main" id="{BB358DC1-7D6A-48CB-A565-789D2E24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953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rPr>
              <a:t>鉴微 / 技术探索</a:t>
            </a:r>
          </a:p>
        </p:txBody>
      </p:sp>
      <p:sp>
        <p:nvSpPr>
          <p:cNvPr id="4" name="1 / 2">
            <a:extLst xmlns:a="http://schemas.openxmlformats.org/drawingml/2006/main">
              <a:ext uri="{FF2B5EF4-FFF2-40B4-BE49-F238E27FC236}">
                <a16:creationId xmlns:a16="http://schemas.microsoft.com/office/drawing/2014/main" id="{6035963A-573F-41BE-A90C-5870EDDD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8486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1 / 2</a:t>
            </a:r>
          </a:p>
        </p:txBody>
      </p:sp>
      <p:sp>
        <p:nvSpPr>
          <p:cNvPr id="5" name="① 自动定位">
            <a:extLst xmlns:a="http://schemas.openxmlformats.org/drawingml/2006/main">
              <a:ext uri="{FF2B5EF4-FFF2-40B4-BE49-F238E27FC236}">
                <a16:creationId xmlns:a16="http://schemas.microsoft.com/office/drawing/2014/main" id="{5C31318F-95CF-4E18-9D4F-EED8DE5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① 自动定位</a:t>
            </a:r>
          </a:p>
        </p:txBody>
      </p:sp>
      <p:sp>
        <p:nvSpPr>
          <p:cNvPr id="6" name="② 原图裁片、转正">
            <a:extLst xmlns:a="http://schemas.openxmlformats.org/drawingml/2006/main">
              <a:ext uri="{FF2B5EF4-FFF2-40B4-BE49-F238E27FC236}">
                <a16:creationId xmlns:a16="http://schemas.microsoft.com/office/drawing/2014/main" id="{6FF2977F-D08A-432C-8EBC-18CA9B7D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② 原图裁片、转正</a:t>
            </a:r>
          </a:p>
        </p:txBody>
      </p:sp>
      <p:sp>
        <p:nvSpPr>
          <p:cNvPr id="7" name="③ VLM 双图比对">
            <a:extLst xmlns:a="http://schemas.openxmlformats.org/drawingml/2006/main">
              <a:ext uri="{FF2B5EF4-FFF2-40B4-BE49-F238E27FC236}">
                <a16:creationId xmlns:a16="http://schemas.microsoft.com/office/drawing/2014/main" id="{75B7DF53-FD4D-4A4C-AED3-7EB7EC61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33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③ VLM 双图比对</a:t>
            </a:r>
          </a:p>
        </p:txBody>
      </p:sp>
      <p:sp>
        <p:nvSpPr>
          <p:cNvPr id="8" name="④ 结构与规则校验">
            <a:extLst xmlns:a="http://schemas.openxmlformats.org/drawingml/2006/main">
              <a:ext uri="{FF2B5EF4-FFF2-40B4-BE49-F238E27FC236}">
                <a16:creationId xmlns:a16="http://schemas.microsoft.com/office/drawing/2014/main" id="{DBA6AD6C-38B3-49F0-8AFA-18A17D8A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④ 结构与规则校验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8D355-4D30-4B84-8997-9D6633A99F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0d81620af46e8"/>
          <a:stretch xmlns:a="http://schemas.openxmlformats.org/drawingml/2006/main"/>
        </p:blipFill>
        <p:spPr>
          <a:xfrm xmlns:a="http://schemas.openxmlformats.org/drawingml/2006/main">
            <a:off x="609600" y="2230890"/>
            <a:ext cx="4762500" cy="2777221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4C504-8591-4CDA-BB9E-97C2930BE5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3362d10de4699"/>
          <a:stretch xmlns:a="http://schemas.openxmlformats.org/drawingml/2006/main"/>
        </p:blipFill>
        <p:spPr>
          <a:xfrm xmlns:a="http://schemas.openxmlformats.org/drawingml/2006/main">
            <a:off x="6084072" y="2219325"/>
            <a:ext cx="2481307" cy="27908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02C80-BE4A-482C-97EC-091947F96E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7276cb4ed4317"/>
          <a:stretch xmlns:a="http://schemas.openxmlformats.org/drawingml/2006/main"/>
        </p:blipFill>
        <p:spPr>
          <a:xfrm xmlns:a="http://schemas.openxmlformats.org/drawingml/2006/main">
            <a:off x="9239250" y="2481859"/>
            <a:ext cx="2095500" cy="2037157"/>
          </a:xfrm>
          <a:prstGeom xmlns:a="http://schemas.openxmlformats.org/drawingml/2006/main" prst="rect">
            <a:avLst/>
          </a:prstGeom>
        </p:spPr>
      </p:pic>
      <p:sp>
        <p:nvSpPr>
          <p:cNvPr id="12" name="→">
            <a:extLst xmlns:a="http://schemas.openxmlformats.org/drawingml/2006/main">
              <a:ext uri="{FF2B5EF4-FFF2-40B4-BE49-F238E27FC236}">
                <a16:creationId xmlns:a16="http://schemas.microsoft.com/office/drawing/2014/main" id="{35859F6A-4CDA-4188-A6F2-92F261CD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333750"/>
            <a:ext cx="38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+">
            <a:extLst xmlns:a="http://schemas.openxmlformats.org/drawingml/2006/main">
              <a:ext uri="{FF2B5EF4-FFF2-40B4-BE49-F238E27FC236}">
                <a16:creationId xmlns:a16="http://schemas.microsoft.com/office/drawing/2014/main" id="{A8B09EDA-4FFD-46AD-9111-0FC2B4FC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33750"/>
            <a:ext cx="33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92890-E468-43EF-8FD1-5422A567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765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t>样品  SV3</a:t>
            </a:r>
            <a:r>
              <a:rPr b="1">
                <a:solidFill>
                  <a:srgbClr val="B62230"/>
                </a:solidFill>
              </a:rPr>
              <a:t>85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69236-7F09-4C80-9F67-48D626FB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6227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t>正品  SV3</a:t>
            </a:r>
            <a:r>
              <a:rPr b="1">
                <a:solidFill>
                  <a:srgbClr val="B62230"/>
                </a:solidFill>
              </a:rPr>
              <a:t>58</a:t>
            </a:r>
          </a:p>
        </p:txBody>
      </p:sp>
      <p:sp>
        <p:nvSpPr>
          <p:cNvPr id="16" name="型号字符错序&#10;结论：不合格">
            <a:extLst xmlns:a="http://schemas.openxmlformats.org/drawingml/2006/main">
              <a:ext uri="{FF2B5EF4-FFF2-40B4-BE49-F238E27FC236}">
                <a16:creationId xmlns:a16="http://schemas.microsoft.com/office/drawing/2014/main" id="{E8B2B81D-D697-474D-BCB4-9FD0C71A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rPr>
              <a:t>型号字符错序</a:t>
            </a:r>
          </a:p>
          <a:p xmlns:a="http://schemas.openxmlformats.org/drawingml/2006/main">
            <a:pPr algn="l">
              <a:def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62230"/>
                </a:solidFill>
                <a:latin typeface="PingFang SC"/>
                <a:ea typeface="PingFang SC"/>
                <a:cs typeface="PingFang SC"/>
              </a:rPr>
              <a:t>结论：不合格</a:t>
            </a:r>
          </a:p>
        </p:txBody>
      </p:sp>
      <p:sp>
        <p:nvSpPr>
          <p:cNvPr id="17" name="Schema + 编号集合校验&#10;原文、输入及变换留">
            <a:extLst xmlns:a="http://schemas.openxmlformats.org/drawingml/2006/main">
              <a:ext uri="{FF2B5EF4-FFF2-40B4-BE49-F238E27FC236}">
                <a16:creationId xmlns:a16="http://schemas.microsoft.com/office/drawing/2014/main" id="{74E00C74-73B2-4349-AF80-34B656AC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572000"/>
            <a:ext cx="2781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Schema + 编号集合校验</a:t>
            </a:r>
          </a:p>
          <a:p xmlns:a="http://schemas.openxmlformats.org/drawingml/2006/main">
            <a:pPr algn="l">
              <a:def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原文、输入及变换留档</a:t>
            </a:r>
          </a:p>
        </p:txBody>
      </p:sp>
      <p:sp>
        <p:nvSpPr>
          <p:cNvPr id="18" name="生成样片 · 1536 × 1024；编号放在元件">
            <a:extLst xmlns:a="http://schemas.openxmlformats.org/drawingml/2006/main">
              <a:ext uri="{FF2B5EF4-FFF2-40B4-BE49-F238E27FC236}">
                <a16:creationId xmlns:a16="http://schemas.microsoft.com/office/drawing/2014/main" id="{E8E81BFF-EA85-49E7-9A00-CD6BF7F0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生成样片 · 1536 × 1024；编号放在元件外，不遮挡丝印 [E1]</a:t>
            </a:r>
          </a:p>
        </p:txBody>
      </p:sp>
      <p:sp>
        <p:nvSpPr>
          <p:cNvPr id="19" name="当前实现：绿色台面规则">
            <a:extLst xmlns:a="http://schemas.openxmlformats.org/drawingml/2006/main">
              <a:ext uri="{FF2B5EF4-FFF2-40B4-BE49-F238E27FC236}">
                <a16:creationId xmlns:a16="http://schemas.microsoft.com/office/drawing/2014/main" id="{3FB7FAAF-A183-438A-8951-9BC446AC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当前实现：绿色台面规则</a:t>
            </a:r>
          </a:p>
        </p:txBody>
      </p:sp>
      <p:sp>
        <p:nvSpPr>
          <p:cNvPr id="20" name="后续候选：YOLO OBB（尚未训练）">
            <a:extLst xmlns:a="http://schemas.openxmlformats.org/drawingml/2006/main">
              <a:ext uri="{FF2B5EF4-FFF2-40B4-BE49-F238E27FC236}">
                <a16:creationId xmlns:a16="http://schemas.microsoft.com/office/drawing/2014/main" id="{60EACA62-1BA9-40D1-96DD-66C94138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769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后续候选：YOLO OBB（尚未训练）</a:t>
            </a:r>
          </a:p>
        </p:txBody>
      </p:sp>
      <p:sp>
        <p:nvSpPr>
          <p:cNvPr id="21" name="HSV 背景分离 → 轮廓筛选 → 最小旋转框。[">
            <a:extLst xmlns:a="http://schemas.openxmlformats.org/drawingml/2006/main">
              <a:ext uri="{FF2B5EF4-FFF2-40B4-BE49-F238E27FC236}">
                <a16:creationId xmlns:a16="http://schemas.microsoft.com/office/drawing/2014/main" id="{11D46DB0-8BE2-4A0C-9B58-36F78CB6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6896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HSV 背景分离 → 轮廓筛选 → 最小旋转框。[1]</a:t>
            </a:r>
          </a:p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从原图裁剪并留边；只做几何插值，不生成文字。</a:t>
            </a:r>
          </a:p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CPU 2 线程：0.24–0.31 s／图；工作器 RSS 134–140 MiB。[E1]</a:t>
            </a:r>
          </a:p>
        </p:txBody>
      </p:sp>
      <p:sp>
        <p:nvSpPr>
          <p:cNvPr id="22" name="依赖绿色台面；粘连、纹理异物仍可能误检。&#10;几何转正">
            <a:extLst xmlns:a="http://schemas.openxmlformats.org/drawingml/2006/main">
              <a:ext uri="{FF2B5EF4-FFF2-40B4-BE49-F238E27FC236}">
                <a16:creationId xmlns:a16="http://schemas.microsoft.com/office/drawing/2014/main" id="{B38592CA-7A42-4B89-9D22-D5D1CCA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689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依赖绿色台面；粘连、纹理异物仍可能误检。</a:t>
            </a:r>
          </a:p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几何转正不能解决 180° 文字方向。</a:t>
            </a:r>
          </a:p>
        </p:txBody>
      </p:sp>
      <p:sp>
        <p:nvSpPr>
          <p:cNvPr id="23" name="学习器件特征、直接给出旋转框，减少背景阈值依赖。[">
            <a:extLst xmlns:a="http://schemas.openxmlformats.org/drawingml/2006/main">
              <a:ext uri="{FF2B5EF4-FFF2-40B4-BE49-F238E27FC236}">
                <a16:creationId xmlns:a16="http://schemas.microsoft.com/office/drawing/2014/main" id="{C37E93E0-DD85-4300-A41C-7EFA44F0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191250"/>
            <a:ext cx="657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学习器件特征、直接给出旋转框，减少背景阈值依赖。[2]</a:t>
            </a:r>
          </a:p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YOLO11n-OBB 约 2.7M 参数；先评估旋转框，暂不抠细边。</a:t>
            </a:r>
          </a:p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暂未采用：缺少现场标注，通用预训练权重不等于 IC 检测器。</a:t>
            </a:r>
          </a:p>
        </p:txBody>
      </p:sp>
      <p:sp>
        <p:nvSpPr>
          <p:cNvPr id="24" name="先测漏件、误检与跨封装表现，再决定是否替换。&#10;旋转">
            <a:extLst xmlns:a="http://schemas.openxmlformats.org/drawingml/2006/main">
              <a:ext uri="{FF2B5EF4-FFF2-40B4-BE49-F238E27FC236}">
                <a16:creationId xmlns:a16="http://schemas.microsoft.com/office/drawing/2014/main" id="{7611B080-73EA-46C9-9F04-972C5E00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2866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先测漏件、误检与跨封装表现，再决定是否替换。</a:t>
            </a:r>
          </a:p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旋转框仍需处理文字方向；Ultralytics 授权需核对。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10D24-A081-4173-8A37-476E4F7A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00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>
                <a:hlinkClick xmlns:r="http://schemas.openxmlformats.org/officeDocument/2006/relationships" r:id="Rfb12a88992b741e2"/>
              </a:rPr>
              <a:t>[E1] 本机 EXP-006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37B7D-9174-44A1-B450-E532E4B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8020050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>
                <a:hlinkClick xmlns:r="http://schemas.openxmlformats.org/officeDocument/2006/relationships" r:id="R1e352e8f5cca40fd"/>
              </a:rPr>
              <a:t>[1] OpenCV 轮廓与旋转框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4D930-5E69-4251-BB5A-3CF0D0E8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20050"/>
            <a:ext cx="514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>
                <a:hlinkClick xmlns:r="http://schemas.openxmlformats.org/officeDocument/2006/relationships" r:id="R69489188941b46b0"/>
              </a:rPr>
              <a:t>[2] Ultralytics YOLO / OBB 官方实现</a:t>
            </a:r>
          </a:p>
        </p:txBody>
      </p:sp>
    </p:spTree>
    <p:extLst>
      <p:ext uri="{BB962C8B-B14F-4D97-AF65-F5344CB8AC3E}">
        <p14:creationId xmlns:p14="http://schemas.microsoft.com/office/powerpoint/2010/main" val="962549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模型与输入策略的实验结果">
            <a:extLst xmlns:a="http://schemas.openxmlformats.org/drawingml/2006/main">
              <a:ext uri="{FF2B5EF4-FFF2-40B4-BE49-F238E27FC236}">
                <a16:creationId xmlns:a16="http://schemas.microsoft.com/office/drawing/2014/main" id="{0A198E21-330C-473F-A78D-8777152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257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模型与输入策略的实验结果</a:t>
            </a:r>
          </a:p>
        </p:txBody>
      </p:sp>
      <p:sp>
        <p:nvSpPr>
          <p:cNvPr id="2" name="先控制细字损失，再比较模型大小、批量耗时和输出稳定">
            <a:extLst xmlns:a="http://schemas.openxmlformats.org/drawingml/2006/main">
              <a:ext uri="{FF2B5EF4-FFF2-40B4-BE49-F238E27FC236}">
                <a16:creationId xmlns:a16="http://schemas.microsoft.com/office/drawing/2014/main" id="{68079D78-0139-4568-8044-F77A2D0B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381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先控制细字损失，再比较模型大小、批量耗时和输出稳定性</a:t>
            </a:r>
          </a:p>
        </p:txBody>
      </p:sp>
      <p:sp>
        <p:nvSpPr>
          <p:cNvPr id="3" name="鉴微 / 技术探索">
            <a:extLst xmlns:a="http://schemas.openxmlformats.org/drawingml/2006/main">
              <a:ext uri="{FF2B5EF4-FFF2-40B4-BE49-F238E27FC236}">
                <a16:creationId xmlns:a16="http://schemas.microsoft.com/office/drawing/2014/main" id="{AB5A7076-DB99-4200-B1A8-6444CB6A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953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62230"/>
                </a:solidFill>
                <a:latin typeface="PingFang SC"/>
                <a:ea typeface="PingFang SC"/>
                <a:cs typeface="PingFang SC"/>
              </a:rPr>
              <a:t>鉴微 / 技术探索</a:t>
            </a:r>
          </a:p>
        </p:txBody>
      </p:sp>
      <p:sp>
        <p:nvSpPr>
          <p:cNvPr id="4" name="2 / 2">
            <a:extLst xmlns:a="http://schemas.openxmlformats.org/drawingml/2006/main">
              <a:ext uri="{FF2B5EF4-FFF2-40B4-BE49-F238E27FC236}">
                <a16:creationId xmlns:a16="http://schemas.microsoft.com/office/drawing/2014/main" id="{1E6E7D1F-0C23-43CA-9A0F-6E5D5856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8486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2 / 2</a:t>
            </a:r>
          </a:p>
        </p:txBody>
      </p:sp>
      <p:sp>
        <p:nvSpPr>
          <p:cNvPr id="5" name="4／6 件白板：首轮调用省时约 28%">
            <a:extLst xmlns:a="http://schemas.openxmlformats.org/drawingml/2006/main">
              <a:ext uri="{FF2B5EF4-FFF2-40B4-BE49-F238E27FC236}">
                <a16:creationId xmlns:a16="http://schemas.microsoft.com/office/drawing/2014/main" id="{E34932AA-4617-4372-8C5C-FA299FB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4／6 件白板：首轮调用省时约 28%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4619ABB-DE88-417F-811A-278A467B6D91}"/>
              </a:ext>
            </a:extLst>
          </p:cNvPr>
          <p:cNvGraphicFramePr/>
          <p:nvPr/>
        </p:nvGraphicFramePr>
        <p:xfrm>
          <a:off xmlns:a="http://schemas.openxmlformats.org/drawingml/2006/main" x="609600" y="2219325"/>
          <a:ext xmlns:a="http://schemas.openxmlformats.org/drawingml/2006/main" cx="6858000" cy="2247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bc97bce8e24b1e"/>
          </a:graphicData>
        </a:graphic>
      </p:graphicFrame>
      <p:sp>
        <p:nvSpPr>
          <p:cNvPr id="7" name="同规则双图比对；全文及判定均为 4/4、6/6。&#10;">
            <a:extLst xmlns:a="http://schemas.openxmlformats.org/drawingml/2006/main">
              <a:ext uri="{FF2B5EF4-FFF2-40B4-BE49-F238E27FC236}">
                <a16:creationId xmlns:a16="http://schemas.microsoft.com/office/drawing/2014/main" id="{37A8FA8A-4583-4B37-89DC-3D664D7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同规则双图比对；全文及判定均为 4/4、6/6。</a:t>
            </a:r>
          </a:p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仅 6 块生成裁片；白板合成约 56 / 77 ms，未上线。[E2]</a:t>
            </a:r>
          </a:p>
        </p:txBody>
      </p:sp>
      <p:sp>
        <p:nvSpPr>
          <p:cNvPr id="8" name="轻量模型：Qwen3.5-4B / 专用 OCR">
            <a:extLst xmlns:a="http://schemas.openxmlformats.org/drawingml/2006/main">
              <a:ext uri="{FF2B5EF4-FFF2-40B4-BE49-F238E27FC236}">
                <a16:creationId xmlns:a16="http://schemas.microsoft.com/office/drawing/2014/main" id="{7050EC66-9734-455C-BF10-6BE2128B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轻量模型：Qwen3.5-4B / 专用 OCR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B7697-0862-4DD7-AC5B-61B08057CDB7}"/>
              </a:ext>
            </a:extLst>
          </p:cNvPr>
          <p:cNvGraphicFramePr/>
          <p:nvPr/>
        </p:nvGraphicFramePr>
        <p:xfrm>
          <a:off xmlns:a="http://schemas.openxmlformats.org/drawingml/2006/main" x="8077200" y="2266950"/>
          <a:ext xmlns:a="http://schemas.openxmlformats.org/drawingml/2006/main" cx="65532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1371600"/>
                <a:gridCol w="2266950"/>
              </a:tblGrid>
              <a:tr h="519113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59616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同组 4 件输入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3DF"/>
                      </a:solidFill>
                      <a:prstDash val="solid"/>
                    </a:lnL>
                    <a:lnR w="9525">
                      <a:solidFill>
                        <a:srgbClr val="E5E3DF"/>
                      </a:solidFill>
                      <a:prstDash val="solid"/>
                    </a:lnR>
                    <a:lnT w="9525">
                      <a:solidFill>
                        <a:srgbClr val="E5E3DF"/>
                      </a:solidFill>
                      <a:prstDash val="solid"/>
                    </a:lnT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EDEBE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59616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3DF"/>
                      </a:solidFill>
                      <a:prstDash val="solid"/>
                    </a:lnR>
                    <a:lnT w="9525">
                      <a:solidFill>
                        <a:srgbClr val="E5E3DF"/>
                      </a:solidFill>
                      <a:prstDash val="solid"/>
                    </a:lnT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EDEBE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59616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轻量方案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3DF"/>
                      </a:solidFill>
                      <a:prstDash val="solid"/>
                    </a:lnR>
                    <a:lnT w="9525">
                      <a:solidFill>
                        <a:srgbClr val="E5E3DF"/>
                      </a:solidFill>
                      <a:prstDash val="solid"/>
                    </a:lnT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EDEBE7"/>
                    </a:solidFill>
                  </a:tcPr>
                </a:tc>
              </a:tr>
              <a:tr h="519113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逐件抄录文字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3DF"/>
                      </a:solidFill>
                      <a:prstDash val="solid"/>
                    </a:lnL>
                    <a:lnR w="9525">
                      <a:solidFill>
                        <a:srgbClr val="E5E3DF"/>
                      </a:solidFill>
                      <a:prstDash val="solid"/>
                    </a:lnR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12.9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3DF"/>
                      </a:solidFill>
                      <a:prstDash val="solid"/>
                    </a:lnR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4B：5.7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3DF"/>
                      </a:solidFill>
                      <a:prstDash val="solid"/>
                    </a:lnR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FCFBF8"/>
                    </a:solidFill>
                  </a:tcPr>
                </a:tc>
              </a:tr>
              <a:tr h="519113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正品 + 4 件白板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3DF"/>
                      </a:solidFill>
                      <a:prstDash val="solid"/>
                    </a:lnL>
                    <a:lnR w="9525">
                      <a:solidFill>
                        <a:srgbClr val="E5E3DF"/>
                      </a:solidFill>
                      <a:prstDash val="solid"/>
                    </a:lnR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19.5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3DF"/>
                      </a:solidFill>
                      <a:prstDash val="solid"/>
                    </a:lnR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4B：5.4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3DF"/>
                      </a:solidFill>
                      <a:prstDash val="solid"/>
                    </a:lnR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FCFBF8"/>
                    </a:solidFill>
                  </a:tcPr>
                </a:tc>
              </a:tr>
              <a:tr h="519113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PP-OCRv6 small / CPU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3DF"/>
                      </a:solidFill>
                      <a:prstDash val="solid"/>
                    </a:lnL>
                    <a:lnR w="9525">
                      <a:solidFill>
                        <a:srgbClr val="E5E3DF"/>
                      </a:solidFill>
                      <a:prstDash val="solid"/>
                    </a:lnR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3DF"/>
                      </a:solidFill>
                      <a:prstDash val="solid"/>
                    </a:lnR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0.88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3DF"/>
                      </a:solidFill>
                      <a:prstDash val="solid"/>
                    </a:lnR>
                    <a:lnB w="9525">
                      <a:solidFill>
                        <a:srgbClr val="E5E3DF"/>
                      </a:solidFill>
                      <a:prstDash val="solid"/>
                    </a:lnB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10" name="另组 4 裁片；VLM 每条件 1 次，4B 另有">
            <a:extLst xmlns:a="http://schemas.openxmlformats.org/drawingml/2006/main">
              <a:ext uri="{FF2B5EF4-FFF2-40B4-BE49-F238E27FC236}">
                <a16:creationId xmlns:a16="http://schemas.microsoft.com/office/drawing/2014/main" id="{A34D544D-1B46-4BB5-BE79-1DFF7CC1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00575"/>
            <a:ext cx="655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另组 4 裁片；VLM 每条件 1 次，4B 另有一次结构失败。</a:t>
            </a:r>
          </a:p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OCR 初始化另需 3.68 s；不覆盖外观和自由文本说明。[E3]</a:t>
            </a:r>
          </a:p>
        </p:txBody>
      </p:sp>
      <p:sp>
        <p:nvSpPr>
          <p:cNvPr id="11" name="尺寸与排布：出现过漏读差异">
            <a:extLst xmlns:a="http://schemas.openxmlformats.org/drawingml/2006/main">
              <a:ext uri="{FF2B5EF4-FFF2-40B4-BE49-F238E27FC236}">
                <a16:creationId xmlns:a16="http://schemas.microsoft.com/office/drawing/2014/main" id="{44E5DA75-62AA-4261-B571-35ED082A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尺寸与排布：出现过漏读差异</a:t>
            </a:r>
          </a:p>
        </p:txBody>
      </p:sp>
      <p:sp>
        <p:nvSpPr>
          <p:cNvPr id="12" name="同 4 块裁片重复排 16 件，方形图全文 16/">
            <a:extLst xmlns:a="http://schemas.openxmlformats.org/drawingml/2006/main">
              <a:ext uri="{FF2B5EF4-FFF2-40B4-BE49-F238E27FC236}">
                <a16:creationId xmlns:a16="http://schemas.microsoft.com/office/drawing/2014/main" id="{043636E3-62BB-4AD3-9FCD-90933B86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689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同 4 块裁片重复排 16 件，方形图全文 16/16。</a:t>
            </a:r>
          </a:p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长条图 7680×480 → 约 2048×128 后仅 12/16；</a:t>
            </a:r>
          </a:p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4 处 SV385 被读成 SV358，JSON 和数量仍正确。[E4]</a:t>
            </a:r>
          </a:p>
        </p:txBody>
      </p:sp>
      <p:sp>
        <p:nvSpPr>
          <p:cNvPr id="13" name="因此限制拼图长边，疑似差异回到单件原图。">
            <a:extLst xmlns:a="http://schemas.openxmlformats.org/drawingml/2006/main">
              <a:ext uri="{FF2B5EF4-FFF2-40B4-BE49-F238E27FC236}">
                <a16:creationId xmlns:a16="http://schemas.microsoft.com/office/drawing/2014/main" id="{A9EA5BCC-DA24-4B7A-8519-F18FF2E7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29475"/>
            <a:ext cx="689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62230"/>
                </a:solidFill>
                <a:latin typeface="PingFang SC"/>
                <a:ea typeface="PingFang SC"/>
                <a:cs typeface="PingFang SC"/>
              </a:rPr>
              <a:t>因此限制拼图长边，疑似差异回到单件原图。</a:t>
            </a:r>
          </a:p>
        </p:txBody>
      </p:sp>
      <p:sp>
        <p:nvSpPr>
          <p:cNvPr id="14" name="结构与缓存：本机换图未提速">
            <a:extLst xmlns:a="http://schemas.openxmlformats.org/drawingml/2006/main">
              <a:ext uri="{FF2B5EF4-FFF2-40B4-BE49-F238E27FC236}">
                <a16:creationId xmlns:a16="http://schemas.microsoft.com/office/drawing/2014/main" id="{75B2E482-BB1F-4B5C-AB0F-2872B62F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626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结构与缓存：本机换图未提速</a:t>
            </a:r>
          </a:p>
        </p:txBody>
      </p:sp>
      <p:sp>
        <p:nvSpPr>
          <p:cNvPr id="15" name="response_format 传 JSON Sc">
            <a:extLst xmlns:a="http://schemas.openxmlformats.org/drawingml/2006/main">
              <a:ext uri="{FF2B5EF4-FFF2-40B4-BE49-F238E27FC236}">
                <a16:creationId xmlns:a16="http://schemas.microsoft.com/office/drawing/2014/main" id="{B972C62F-40F1-4A2B-948E-39F8733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076950"/>
            <a:ext cx="6572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response_format 传 JSON Schema，再校验编号集合。[3]</a:t>
            </a:r>
          </a:p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固定规则与正品图前置，动态说明与样品图后置。</a:t>
            </a:r>
          </a:p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换图每条件 4 次：25.29 s vs 旧方案 22.08 s，缓存 0 命中。</a:t>
            </a:r>
          </a:p>
          <a:p xmlns:a="http://schemas.openxmlformats.org/drawingml/2006/main">
            <a:pPr algn="l">
              <a:def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329"/>
                </a:solidFill>
                <a:latin typeface="PingFang SC"/>
                <a:ea typeface="PingFang SC"/>
                <a:cs typeface="PingFang SC"/>
              </a:rPr>
              <a:t>Schema 约束结构；不保证读字或业务判断正确。[E5]</a:t>
            </a:r>
          </a:p>
        </p:txBody>
      </p:sp>
      <p:sp>
        <p:nvSpPr>
          <p:cNvPr id="16" name="本机 M2 Ultra / 64 GiB；VLM ">
            <a:extLst xmlns:a="http://schemas.openxmlformats.org/drawingml/2006/main">
              <a:ext uri="{FF2B5EF4-FFF2-40B4-BE49-F238E27FC236}">
                <a16:creationId xmlns:a16="http://schemas.microsoft.com/office/drawing/2014/main" id="{F40584AE-53E1-4007-BA85-87315838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0"/>
            <a:ext cx="1362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16A"/>
                </a:solidFill>
                <a:latin typeface="PingFang SC"/>
                <a:ea typeface="PingFang SC"/>
                <a:cs typeface="PingFang SC"/>
              </a:rPr>
              <a:t>本机 M2 Ultra / 64 GiB；VLM 串行、4bit、关闭 thinking。均为 10/17–18 受控小样本，未形成实拍误放行率。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13A1F-1D52-452E-97F4-DC65D1B2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1847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>
                <a:hlinkClick xmlns:r="http://schemas.openxmlformats.org/officeDocument/2006/relationships" r:id="Ra9d68c6b2e624995"/>
              </a:rPr>
              <a:t>[E2] 白板对照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81197-DDE3-4B41-8867-F6564A3C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058150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>
                <a:hlinkClick xmlns:r="http://schemas.openxmlformats.org/officeDocument/2006/relationships" r:id="R4f0d8f244b404628"/>
              </a:rPr>
              <a:t>[E3] 4B / 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977FF-07DC-4F4D-8D71-508C6099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0581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>
                <a:hlinkClick xmlns:r="http://schemas.openxmlformats.org/officeDocument/2006/relationships" r:id="R6589a8b27f664e82"/>
              </a:rPr>
              <a:t>[E4] 尺寸探针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5A114-922A-4861-AB75-57BC710F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0581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>
                <a:hlinkClick xmlns:r="http://schemas.openxmlformats.org/officeDocument/2006/relationships" r:id="R4f23d478a467434a"/>
              </a:rPr>
              <a:t>[E5] 缓存对照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F4601-A23F-4B3E-AD88-D320850F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058150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>
                <a:hlinkClick xmlns:r="http://schemas.openxmlformats.org/officeDocument/2006/relationships" r:id="R7b7f92b2bd11444f"/>
              </a:rPr>
              <a:t>[3] vLLM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FCCDE-DEC6-481B-A83F-104D9759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805815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9616A"/>
                </a:solidFill>
                <a:latin typeface="PingFang SC"/>
                <a:ea typeface="PingFang SC"/>
                <a:cs typeface="PingFang SC"/>
              </a:defRPr>
            </a:pPr>
            <a:r>
              <a:rPr>
                <a:hlinkClick xmlns:r="http://schemas.openxmlformats.org/officeDocument/2006/relationships" r:id="Rde531a3ae82140d5"/>
              </a:rPr>
              <a:t>机制背景：Qwen3-VL 技术报告</a:t>
            </a:r>
          </a:p>
        </p:txBody>
      </p:sp>
    </p:spTree>
    <p:extLst>
      <p:ext uri="{BB962C8B-B14F-4D97-AF65-F5344CB8AC3E}">
        <p14:creationId xmlns:p14="http://schemas.microsoft.com/office/powerpoint/2010/main" val="1409439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2026-10-26T22:57:16.7300000Z</dcterms:created>
  <dcterms:modified xsi:type="dcterms:W3CDTF">2026-10-26T22:57:16.7300000Z</dcterms:modified>
</coreProperties>
</file>